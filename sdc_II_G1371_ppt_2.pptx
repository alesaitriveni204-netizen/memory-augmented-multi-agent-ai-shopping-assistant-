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5" r:id="rId2"/>
    <p:sldId id="280" r:id="rId3"/>
    <p:sldId id="281" r:id="rId4"/>
    <p:sldId id="282" r:id="rId5"/>
    <p:sldId id="276" r:id="rId6"/>
    <p:sldId id="278" r:id="rId7"/>
    <p:sldId id="267" r:id="rId8"/>
    <p:sldId id="269" r:id="rId9"/>
    <p:sldId id="284" r:id="rId10"/>
    <p:sldId id="271" r:id="rId11"/>
    <p:sldId id="272" r:id="rId12"/>
    <p:sldId id="283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27301E-B759-4D51-8961-AA6FE90477A8}">
          <p14:sldIdLst>
            <p14:sldId id="265"/>
            <p14:sldId id="280"/>
            <p14:sldId id="281"/>
            <p14:sldId id="282"/>
            <p14:sldId id="276"/>
            <p14:sldId id="278"/>
            <p14:sldId id="267"/>
            <p14:sldId id="269"/>
            <p14:sldId id="284"/>
            <p14:sldId id="271"/>
            <p14:sldId id="272"/>
            <p14:sldId id="283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09C412-F911-4AB5-A3FF-00FF4CED4963}" v="2" dt="2026-08-11T08:51:56.1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84" autoAdjust="0"/>
  </p:normalViewPr>
  <p:slideViewPr>
    <p:cSldViewPr snapToGrid="0">
      <p:cViewPr varScale="1">
        <p:scale>
          <a:sx n="47" d="100"/>
          <a:sy n="47" d="100"/>
        </p:scale>
        <p:origin x="102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941058-A3E5-47D4-B859-4A9742E27F63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6B606-C12C-48FD-B164-C1AF8FBC0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05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Now coming to our architecture.</a:t>
            </a:r>
          </a:p>
          <a:p>
            <a:r>
              <a:rPr lang="en-IN" dirty="0"/>
              <a:t>At the top, we have the </a:t>
            </a:r>
            <a:r>
              <a:rPr lang="en-IN" b="1" dirty="0"/>
              <a:t>user interaction layer</a:t>
            </a:r>
            <a:r>
              <a:rPr lang="en-IN" dirty="0"/>
              <a:t>, where the user provides a shopping query and requirements.</a:t>
            </a:r>
          </a:p>
          <a:p>
            <a:endParaRPr lang="en-IN" dirty="0"/>
          </a:p>
          <a:p>
            <a:r>
              <a:rPr lang="en-IN" dirty="0"/>
              <a:t>The request is handled by our </a:t>
            </a:r>
            <a:r>
              <a:rPr lang="en-IN" b="1" dirty="0"/>
              <a:t>AI Orchestrator</a:t>
            </a:r>
            <a:r>
              <a:rPr lang="en-IN" dirty="0"/>
              <a:t>, which acts as the central coordinator of the multi-agent system. Its job is to understand the requirement and delegate different tasks to the appropriate specialized agents.</a:t>
            </a:r>
          </a:p>
          <a:p>
            <a:endParaRPr lang="en-IN" dirty="0"/>
          </a:p>
          <a:p>
            <a:r>
              <a:rPr lang="en-IN" dirty="0"/>
              <a:t>The first important component is the </a:t>
            </a:r>
            <a:r>
              <a:rPr lang="en-IN" b="1" dirty="0"/>
              <a:t>Memory Agent</a:t>
            </a:r>
            <a:r>
              <a:rPr lang="en-IN" dirty="0"/>
              <a:t>. It retrieves relevant information from the user's previous conversations, preferences, and shopping history. This provides the system with the user's existing context.</a:t>
            </a:r>
          </a:p>
          <a:p>
            <a:endParaRPr lang="en-IN" dirty="0"/>
          </a:p>
          <a:p>
            <a:r>
              <a:rPr lang="en-IN" dirty="0"/>
              <a:t>Next, the </a:t>
            </a:r>
            <a:r>
              <a:rPr lang="en-IN" b="1" dirty="0"/>
              <a:t>Search Agent</a:t>
            </a:r>
            <a:r>
              <a:rPr lang="en-IN" dirty="0"/>
              <a:t> is responsible for finding relevant product information from the available e-commerce sources.</a:t>
            </a:r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Recommendation Agent</a:t>
            </a:r>
            <a:r>
              <a:rPr lang="en-IN" dirty="0"/>
              <a:t> combines the user's current requirements with the retrieved user context and product information to generate suitable recommendations.</a:t>
            </a:r>
          </a:p>
          <a:p>
            <a:endParaRPr lang="en-IN" dirty="0"/>
          </a:p>
          <a:p>
            <a:r>
              <a:rPr lang="en-IN" dirty="0"/>
              <a:t>We also have specialized agents such as the </a:t>
            </a:r>
            <a:r>
              <a:rPr lang="en-IN" b="1" dirty="0"/>
              <a:t>Review Analysis Agent</a:t>
            </a:r>
            <a:r>
              <a:rPr lang="en-IN" dirty="0"/>
              <a:t> and </a:t>
            </a:r>
            <a:r>
              <a:rPr lang="en-IN" b="1" dirty="0"/>
              <a:t>Price Intelligence Agent</a:t>
            </a:r>
            <a:r>
              <a:rPr lang="en-IN" dirty="0"/>
              <a:t>. </a:t>
            </a:r>
          </a:p>
          <a:p>
            <a:r>
              <a:rPr lang="en-IN" dirty="0"/>
              <a:t>These provide additional insights by </a:t>
            </a:r>
            <a:r>
              <a:rPr lang="en-IN" dirty="0" err="1"/>
              <a:t>analyzing</a:t>
            </a:r>
            <a:r>
              <a:rPr lang="en-IN" dirty="0"/>
              <a:t> product reviews and price-related information.</a:t>
            </a:r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RAG component</a:t>
            </a:r>
            <a:r>
              <a:rPr lang="en-IN" dirty="0"/>
              <a:t> supports the retrieval of relevant product knowledge before the final response is generated. </a:t>
            </a:r>
          </a:p>
          <a:p>
            <a:r>
              <a:rPr lang="en-IN" dirty="0"/>
              <a:t>This helps the system provide recommendations based on retrieved product information rather than relying only on the language model's existing knowledge.</a:t>
            </a:r>
          </a:p>
          <a:p>
            <a:endParaRPr lang="en-IN" dirty="0"/>
          </a:p>
          <a:p>
            <a:r>
              <a:rPr lang="en-IN" dirty="0"/>
              <a:t>The </a:t>
            </a:r>
            <a:r>
              <a:rPr lang="en-IN" b="1" dirty="0"/>
              <a:t>Digital Twin</a:t>
            </a:r>
            <a:r>
              <a:rPr lang="en-IN" dirty="0"/>
              <a:t> represents the user's preferences and shopping </a:t>
            </a:r>
            <a:r>
              <a:rPr lang="en-IN" dirty="0" err="1"/>
              <a:t>behavior</a:t>
            </a:r>
            <a:r>
              <a:rPr lang="en-IN" dirty="0"/>
              <a:t> and helps the system personalize its recommendations.</a:t>
            </a:r>
          </a:p>
          <a:p>
            <a:endParaRPr lang="en-IN" dirty="0"/>
          </a:p>
          <a:p>
            <a:r>
              <a:rPr lang="en-IN" dirty="0"/>
              <a:t>Finally, all the relevant information from these components is brought together to produce an </a:t>
            </a:r>
            <a:r>
              <a:rPr lang="en-IN" b="1" dirty="0"/>
              <a:t>explainable and personalized shopping recommendation</a:t>
            </a:r>
            <a:r>
              <a:rPr lang="en-IN" dirty="0"/>
              <a:t> for the user.</a:t>
            </a:r>
          </a:p>
          <a:p>
            <a:endParaRPr lang="en-IN" dirty="0"/>
          </a:p>
          <a:p>
            <a:r>
              <a:rPr lang="en-IN" dirty="0"/>
              <a:t>So, the key idea behind this architecture is that instead of using one general-purpose agent for the entire shopping process, we use an </a:t>
            </a:r>
            <a:r>
              <a:rPr lang="en-IN" b="1" dirty="0"/>
              <a:t>orchestrator with multiple specialized agents</a:t>
            </a:r>
            <a:r>
              <a:rPr lang="en-IN" dirty="0"/>
              <a:t>, supported by </a:t>
            </a:r>
            <a:r>
              <a:rPr lang="en-IN" b="1" dirty="0"/>
              <a:t>Memory, RAG, and a Digital Twin</a:t>
            </a:r>
            <a:r>
              <a:rPr lang="en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6B606-C12C-48FD-B164-C1AF8FBC07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Slide 13 — Thank You</a:t>
            </a:r>
          </a:p>
          <a:p>
            <a:r>
              <a:rPr lang="en-IN" dirty="0"/>
              <a:t>To conclude, our project aims to move beyond a basic AI shopping chatbot.</a:t>
            </a:r>
          </a:p>
          <a:p>
            <a:endParaRPr lang="en-IN" dirty="0"/>
          </a:p>
          <a:p>
            <a:r>
              <a:rPr lang="en-IN" dirty="0"/>
              <a:t>By combining </a:t>
            </a:r>
            <a:r>
              <a:rPr lang="en-IN" b="1" dirty="0"/>
              <a:t>Persistent Memory, RAG, Digital Twins, and Multi-Agent Intelligence</a:t>
            </a:r>
            <a:r>
              <a:rPr lang="en-IN" dirty="0"/>
              <a:t>, we aim to build a shopping assistant that can understand the user, remember their preferences, retrieve reliable product information, and provide personalized recommendations.</a:t>
            </a:r>
          </a:p>
          <a:p>
            <a:endParaRPr lang="en-IN" dirty="0"/>
          </a:p>
          <a:p>
            <a:r>
              <a:rPr lang="en-IN" dirty="0"/>
              <a:t>The ultimate goal is to deliver a </a:t>
            </a:r>
            <a:r>
              <a:rPr lang="en-IN" b="1" dirty="0"/>
              <a:t>consistent, accurate, explainable, and personalized shopping experience</a:t>
            </a:r>
            <a:r>
              <a:rPr lang="en-IN" dirty="0"/>
              <a:t> across multiple platforms.</a:t>
            </a:r>
          </a:p>
          <a:p>
            <a:r>
              <a:rPr lang="en-IN" dirty="0"/>
              <a:t>Thank you.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6B606-C12C-48FD-B164-C1AF8FBC07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664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26;p7">
            <a:extLst>
              <a:ext uri="{FF2B5EF4-FFF2-40B4-BE49-F238E27FC236}">
                <a16:creationId xmlns:a16="http://schemas.microsoft.com/office/drawing/2014/main" id="{9EEDF353-4C94-1A51-9B4E-266144ABD1CB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27;p7">
            <a:extLst>
              <a:ext uri="{FF2B5EF4-FFF2-40B4-BE49-F238E27FC236}">
                <a16:creationId xmlns:a16="http://schemas.microsoft.com/office/drawing/2014/main" id="{F972E414-C475-FD52-1DCC-A4C153BCD37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28;p7">
            <a:extLst>
              <a:ext uri="{FF2B5EF4-FFF2-40B4-BE49-F238E27FC236}">
                <a16:creationId xmlns:a16="http://schemas.microsoft.com/office/drawing/2014/main" id="{3B75AAB7-8282-D53A-6274-FFF4F87D31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AAD0773F-BC41-4673-8580-9B75BA127ADF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2286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2" name="Google Shape;33;p8">
            <a:extLst>
              <a:ext uri="{FF2B5EF4-FFF2-40B4-BE49-F238E27FC236}">
                <a16:creationId xmlns:a16="http://schemas.microsoft.com/office/drawing/2014/main" id="{0F873A22-B656-B70D-AE94-2F4A1E02829F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34;p8">
            <a:extLst>
              <a:ext uri="{FF2B5EF4-FFF2-40B4-BE49-F238E27FC236}">
                <a16:creationId xmlns:a16="http://schemas.microsoft.com/office/drawing/2014/main" id="{7F472728-65B9-BEA8-E2AB-50A7502E2B8F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35;p8">
            <a:extLst>
              <a:ext uri="{FF2B5EF4-FFF2-40B4-BE49-F238E27FC236}">
                <a16:creationId xmlns:a16="http://schemas.microsoft.com/office/drawing/2014/main" id="{C4CC17D8-46D2-D015-B142-41A7C8CA2B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31F808A-BE66-40C6-A28B-D1952CC78A5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1927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58;p12">
            <a:extLst>
              <a:ext uri="{FF2B5EF4-FFF2-40B4-BE49-F238E27FC236}">
                <a16:creationId xmlns:a16="http://schemas.microsoft.com/office/drawing/2014/main" id="{78EB4BF1-BC07-9A40-4FD1-AD2C8E2A778A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9;p12">
            <a:extLst>
              <a:ext uri="{FF2B5EF4-FFF2-40B4-BE49-F238E27FC236}">
                <a16:creationId xmlns:a16="http://schemas.microsoft.com/office/drawing/2014/main" id="{1689CE93-5AD8-9DEA-6A9B-F428A0FB2A1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0;p12">
            <a:extLst>
              <a:ext uri="{FF2B5EF4-FFF2-40B4-BE49-F238E27FC236}">
                <a16:creationId xmlns:a16="http://schemas.microsoft.com/office/drawing/2014/main" id="{86AFF95E-0204-1B12-9DC7-506EB65C43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B946C5B2-E8B8-4013-A7F1-46B158A9F482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239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65;p13">
            <a:extLst>
              <a:ext uri="{FF2B5EF4-FFF2-40B4-BE49-F238E27FC236}">
                <a16:creationId xmlns:a16="http://schemas.microsoft.com/office/drawing/2014/main" id="{6830560B-EC46-0D2D-393A-2FE48266FD45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66;p13">
            <a:extLst>
              <a:ext uri="{FF2B5EF4-FFF2-40B4-BE49-F238E27FC236}">
                <a16:creationId xmlns:a16="http://schemas.microsoft.com/office/drawing/2014/main" id="{C8DB439E-052B-358D-1FA5-E685A639207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7;p13">
            <a:extLst>
              <a:ext uri="{FF2B5EF4-FFF2-40B4-BE49-F238E27FC236}">
                <a16:creationId xmlns:a16="http://schemas.microsoft.com/office/drawing/2014/main" id="{10608590-4128-59A2-58E9-A09775FEF5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3E1E7C7B-C7D3-419A-A00C-6260B9E8BA37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023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1;p14">
            <a:extLst>
              <a:ext uri="{FF2B5EF4-FFF2-40B4-BE49-F238E27FC236}">
                <a16:creationId xmlns:a16="http://schemas.microsoft.com/office/drawing/2014/main" id="{B9A4786C-67EA-6C04-CA3D-F992D59290ED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2;p14">
            <a:extLst>
              <a:ext uri="{FF2B5EF4-FFF2-40B4-BE49-F238E27FC236}">
                <a16:creationId xmlns:a16="http://schemas.microsoft.com/office/drawing/2014/main" id="{2AA6D83F-AFD4-54A0-CD63-BAB24C5CAAC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3;p14">
            <a:extLst>
              <a:ext uri="{FF2B5EF4-FFF2-40B4-BE49-F238E27FC236}">
                <a16:creationId xmlns:a16="http://schemas.microsoft.com/office/drawing/2014/main" id="{0762581D-3ED7-3FA0-E761-039876C13F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456F98DD-0713-4981-BE72-6777F706CC00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6245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7;p15">
            <a:extLst>
              <a:ext uri="{FF2B5EF4-FFF2-40B4-BE49-F238E27FC236}">
                <a16:creationId xmlns:a16="http://schemas.microsoft.com/office/drawing/2014/main" id="{17DA1089-C8A2-E22B-F7F8-36C6B7096E3C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8;p15">
            <a:extLst>
              <a:ext uri="{FF2B5EF4-FFF2-40B4-BE49-F238E27FC236}">
                <a16:creationId xmlns:a16="http://schemas.microsoft.com/office/drawing/2014/main" id="{420D58EF-0EAF-56BB-8E42-CE9DCE9BC03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9;p15">
            <a:extLst>
              <a:ext uri="{FF2B5EF4-FFF2-40B4-BE49-F238E27FC236}">
                <a16:creationId xmlns:a16="http://schemas.microsoft.com/office/drawing/2014/main" id="{D29183DB-5A01-7B98-BB1F-F72734E3D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A754393-AC14-454F-A816-D59A145642E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94653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D44B-C9F2-4BB6-95DD-9EC4312F87A8}" type="datetimeFigureOut">
              <a:rPr lang="en-IN" smtClean="0"/>
              <a:pPr/>
              <a:t>13-08-2026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FFC8E-86B8-4915-B611-AC24C4A73F6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332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>
            <a:extLst>
              <a:ext uri="{FF2B5EF4-FFF2-40B4-BE49-F238E27FC236}">
                <a16:creationId xmlns:a16="http://schemas.microsoft.com/office/drawing/2014/main" id="{EFE614AC-EC4A-B4E4-7ACC-6E2695631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>
            <a:extLst>
              <a:ext uri="{FF2B5EF4-FFF2-40B4-BE49-F238E27FC236}">
                <a16:creationId xmlns:a16="http://schemas.microsoft.com/office/drawing/2014/main" id="{7F8325A5-9F04-4697-D767-81F7DC3A2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>
            <a:extLst>
              <a:ext uri="{FF2B5EF4-FFF2-40B4-BE49-F238E27FC236}">
                <a16:creationId xmlns:a16="http://schemas.microsoft.com/office/drawing/2014/main" id="{F6EFBDA3-C7EA-130B-3318-E5BCC90F08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9;p4">
            <a:extLst>
              <a:ext uri="{FF2B5EF4-FFF2-40B4-BE49-F238E27FC236}">
                <a16:creationId xmlns:a16="http://schemas.microsoft.com/office/drawing/2014/main" id="{87A4DB0D-33F7-1C38-286C-F33035BD15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4">
            <a:extLst>
              <a:ext uri="{FF2B5EF4-FFF2-40B4-BE49-F238E27FC236}">
                <a16:creationId xmlns:a16="http://schemas.microsoft.com/office/drawing/2014/main" id="{093857D4-A9C7-C39D-5327-36B1215EEB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000000"/>
              </a:buClr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fld id="{EB1CB48F-56D5-4B48-AE23-5667BEA3CB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81666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7" r:id="rId6"/>
    <p:sldLayoutId id="2147483668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 descr="https://lh3.googleusercontent.com/58wn6-yfOr1YycMm79hHe35ARNqXLIxeOCE816abKgbHlvfwWL3D_S_viovStAJ4n-KSMAuUYMbSyK-dHZ67G5EcG1i9LgYdz5MjjSTwyK7sK1Cmbo_ylI2DsFtKfeZ0DkAqPFv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031" y="62642"/>
            <a:ext cx="1498876" cy="747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035792" y="71005"/>
            <a:ext cx="888089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288925"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71023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889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0238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KESHAV MEMORIAL INSTITUTE OF TECHNOLOGY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2889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0238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(AN AUTONOMOUS INSTITUTION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2889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0238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Arial Black" panose="020B0A04020102020204" pitchFamily="34" charset="0"/>
                <a:cs typeface="Times New Roman" panose="02020603050405020304" pitchFamily="18" charset="0"/>
              </a:rPr>
              <a:t>Accredited by NBA &amp; NAAC, Approved by AICTE, Affiliated to JNTUH, Hyderabad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  <a:p>
            <a:pPr marL="0" marR="0" lvl="0" indent="2889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0238" algn="l"/>
              </a:tabLs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marL="0" marR="0" lvl="0" indent="28892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710238" algn="l"/>
              </a:tabLst>
            </a:pP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A.Y 2026-27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C2011-CB98-AFD9-F4E2-001DA0B74FF5}"/>
              </a:ext>
            </a:extLst>
          </p:cNvPr>
          <p:cNvSpPr txBox="1">
            <a:spLocks/>
          </p:cNvSpPr>
          <p:nvPr/>
        </p:nvSpPr>
        <p:spPr>
          <a:xfrm>
            <a:off x="996463" y="1684013"/>
            <a:ext cx="9697888" cy="107820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en-IN" sz="2400" i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SDC project on</a:t>
            </a:r>
            <a:br>
              <a:rPr lang="en-IN" sz="3600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Augmented Multi Agents with RAG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B2759EB-3A1F-0019-5640-C12C58EEFBB0}"/>
              </a:ext>
            </a:extLst>
          </p:cNvPr>
          <p:cNvSpPr txBox="1">
            <a:spLocks/>
          </p:cNvSpPr>
          <p:nvPr/>
        </p:nvSpPr>
        <p:spPr>
          <a:xfrm>
            <a:off x="2645007" y="2897902"/>
            <a:ext cx="6400800" cy="89735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pPr algn="ctr">
              <a:defRPr/>
            </a:pP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IN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Yasaswini</a:t>
            </a:r>
            <a:endParaRPr lang="en-IN" sz="2400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B2759EB-3A1F-0019-5640-C12C58EEFBB0}"/>
              </a:ext>
            </a:extLst>
          </p:cNvPr>
          <p:cNvSpPr txBox="1">
            <a:spLocks/>
          </p:cNvSpPr>
          <p:nvPr/>
        </p:nvSpPr>
        <p:spPr>
          <a:xfrm>
            <a:off x="3087329" y="3930932"/>
            <a:ext cx="6095999" cy="248277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en-IN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No:G1371</a:t>
            </a:r>
          </a:p>
          <a:p>
            <a:pPr lvl="0" algn="just">
              <a:defRPr/>
            </a:pPr>
            <a:r>
              <a:rPr lang="en-I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 Sai Triveni                          24BD1A05E3</a:t>
            </a:r>
          </a:p>
          <a:p>
            <a:pPr lvl="0" algn="just">
              <a:defRPr/>
            </a:pPr>
            <a:r>
              <a:rPr lang="en-I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Golem Shivani                          24BD1A05GE</a:t>
            </a:r>
          </a:p>
          <a:p>
            <a:pPr lvl="0" algn="just">
              <a:defRPr/>
            </a:pPr>
            <a:r>
              <a:rPr lang="en-IN" sz="24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Kandur</a:t>
            </a:r>
            <a:r>
              <a:rPr lang="en-I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Rishitha Reddy            24BD1A05GR  </a:t>
            </a:r>
          </a:p>
          <a:p>
            <a:pPr lvl="0" algn="just">
              <a:defRPr/>
            </a:pPr>
            <a:r>
              <a:rPr lang="en-I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Ramavath Vandana                  24BD1A05HG</a:t>
            </a:r>
          </a:p>
          <a:p>
            <a:pPr lvl="0" algn="just">
              <a:defRPr/>
            </a:pPr>
            <a:r>
              <a:rPr lang="en-IN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Preksha Bolampalliwar            24BD1A05E9</a:t>
            </a:r>
          </a:p>
          <a:p>
            <a:pPr algn="ctr">
              <a:defRPr/>
            </a:pPr>
            <a:endParaRPr lang="en-IN" sz="24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452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0E22AC-3F58-F482-0CDA-9CFD1DAC1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6240" y="279400"/>
            <a:ext cx="6096000" cy="6299200"/>
          </a:xfrm>
        </p:spPr>
        <p:txBody>
          <a:bodyPr>
            <a:normAutofit fontScale="70000" lnSpcReduction="20000"/>
          </a:bodyPr>
          <a:lstStyle/>
          <a:p>
            <a:pPr marL="38100" indent="0" algn="ctr">
              <a:buNone/>
            </a:pPr>
            <a:r>
              <a:rPr lang="en-IN" sz="5300" b="1" kern="1200" dirty="0"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CONTENTS</a:t>
            </a:r>
          </a:p>
          <a:p>
            <a:pPr marL="38100" indent="0">
              <a:buNone/>
            </a:pPr>
            <a:endParaRPr lang="en-IN" sz="2800" b="1" kern="1200" dirty="0">
              <a:solidFill>
                <a:srgbClr val="FF0000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  <a:p>
            <a:pPr indent="-457200">
              <a:lnSpc>
                <a:spcPct val="150000"/>
              </a:lnSpc>
              <a:buAutoNum type="arabicPeriod"/>
            </a:pPr>
            <a:r>
              <a:rPr lang="en-IN" sz="3300" dirty="0">
                <a:latin typeface="Georgia" panose="02040502050405020303" pitchFamily="18" charset="0"/>
              </a:rPr>
              <a:t>Problem Statement </a:t>
            </a:r>
          </a:p>
          <a:p>
            <a:pPr indent="-457200">
              <a:lnSpc>
                <a:spcPct val="150000"/>
              </a:lnSpc>
              <a:buAutoNum type="arabicPeriod"/>
            </a:pPr>
            <a:r>
              <a:rPr lang="en-IN" sz="3300" dirty="0">
                <a:latin typeface="Georgia" panose="02040502050405020303" pitchFamily="18" charset="0"/>
              </a:rPr>
              <a:t>Base Paper / Research Paper Reference </a:t>
            </a:r>
          </a:p>
          <a:p>
            <a:pPr indent="-457200">
              <a:lnSpc>
                <a:spcPct val="150000"/>
              </a:lnSpc>
              <a:buAutoNum type="arabicPeriod"/>
            </a:pPr>
            <a:r>
              <a:rPr lang="en-IN" sz="3300" dirty="0">
                <a:latin typeface="Georgia" panose="02040502050405020303" pitchFamily="18" charset="0"/>
              </a:rPr>
              <a:t>Our Proposed Approach</a:t>
            </a:r>
          </a:p>
          <a:p>
            <a:pPr indent="-457200">
              <a:lnSpc>
                <a:spcPct val="150000"/>
              </a:lnSpc>
              <a:buAutoNum type="arabicPeriod"/>
            </a:pPr>
            <a:r>
              <a:rPr lang="en-IN" sz="3300" dirty="0">
                <a:latin typeface="Georgia" panose="02040502050405020303" pitchFamily="18" charset="0"/>
              </a:rPr>
              <a:t>Dataset Details </a:t>
            </a:r>
          </a:p>
          <a:p>
            <a:pPr indent="-457200">
              <a:lnSpc>
                <a:spcPct val="150000"/>
              </a:lnSpc>
              <a:buAutoNum type="arabicPeriod"/>
            </a:pPr>
            <a:r>
              <a:rPr lang="en-IN" sz="3300" dirty="0">
                <a:latin typeface="Georgia" panose="02040502050405020303" pitchFamily="18" charset="0"/>
              </a:rPr>
              <a:t>Improvements over Base Paper</a:t>
            </a:r>
          </a:p>
          <a:p>
            <a:pPr indent="-457200">
              <a:lnSpc>
                <a:spcPct val="150000"/>
              </a:lnSpc>
              <a:buAutoNum type="arabicPeriod"/>
            </a:pPr>
            <a:r>
              <a:rPr lang="en-IN" sz="3300" dirty="0">
                <a:latin typeface="Georgia" panose="02040502050405020303" pitchFamily="18" charset="0"/>
              </a:rPr>
              <a:t>Architecture Diagram</a:t>
            </a:r>
          </a:p>
          <a:p>
            <a:pPr indent="-457200">
              <a:lnSpc>
                <a:spcPct val="150000"/>
              </a:lnSpc>
              <a:buAutoNum type="arabicPeriod"/>
            </a:pPr>
            <a:r>
              <a:rPr lang="en-IN" sz="3300" dirty="0">
                <a:latin typeface="Georgia" panose="02040502050405020303" pitchFamily="18" charset="0"/>
              </a:rPr>
              <a:t>Features</a:t>
            </a:r>
          </a:p>
          <a:p>
            <a:pPr indent="-457200">
              <a:lnSpc>
                <a:spcPct val="150000"/>
              </a:lnSpc>
              <a:buAutoNum type="arabicPeriod"/>
            </a:pPr>
            <a:r>
              <a:rPr lang="en-IN" sz="3300" dirty="0">
                <a:latin typeface="Georgia" panose="02040502050405020303" pitchFamily="18" charset="0"/>
              </a:rPr>
              <a:t>Proposed Deployment Plan </a:t>
            </a:r>
          </a:p>
          <a:p>
            <a:pPr indent="-457200">
              <a:lnSpc>
                <a:spcPct val="150000"/>
              </a:lnSpc>
              <a:buAutoNum type="arabicPeriod"/>
            </a:pPr>
            <a:r>
              <a:rPr lang="en-IN" sz="3300" dirty="0">
                <a:latin typeface="Georgia" panose="02040502050405020303" pitchFamily="18" charset="0"/>
              </a:rPr>
              <a:t>Target Users, Input and Expected Output </a:t>
            </a:r>
          </a:p>
          <a:p>
            <a:pPr indent="-457200">
              <a:lnSpc>
                <a:spcPct val="150000"/>
              </a:lnSpc>
              <a:buAutoNum type="arabicPeriod"/>
            </a:pPr>
            <a:r>
              <a:rPr lang="en-US" sz="3300" dirty="0">
                <a:latin typeface="Georgia" panose="02040502050405020303" pitchFamily="18" charset="0"/>
              </a:rPr>
              <a:t>Future Scope</a:t>
            </a:r>
            <a:endParaRPr lang="en-US" sz="3300" dirty="0">
              <a:latin typeface="Georgia" panose="02040502050405020303" pitchFamily="18" charset="0"/>
              <a:cs typeface="Arial" panose="020B0604020202020204" pitchFamily="34" charset="0"/>
            </a:endParaRPr>
          </a:p>
          <a:p>
            <a:pPr marL="381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785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1FB7-A0C5-4131-995B-B06622FB5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887" y="595342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IN" altLang="en-US" sz="4400" b="1" dirty="0">
                <a:solidFill>
                  <a:srgbClr val="C00000"/>
                </a:solidFill>
                <a:latin typeface="Georgia" panose="02040502050405020303" pitchFamily="18" charset="0"/>
                <a:cs typeface="Georgia" panose="02040502050405020303" pitchFamily="18" charset="0"/>
              </a:rPr>
              <a:t>PROBLEM STATEMENT</a:t>
            </a:r>
            <a:br>
              <a:rPr lang="en-IN" altLang="en-US" sz="4800" b="1" dirty="0">
                <a:solidFill>
                  <a:srgbClr val="C00000"/>
                </a:solidFill>
                <a:latin typeface="Georgia" panose="02040502050405020303" pitchFamily="18" charset="0"/>
                <a:cs typeface="Georgia" panose="02040502050405020303" pitchFamily="18" charset="0"/>
              </a:rPr>
            </a:b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1C7997-F52E-4C40-B547-94C1431B7A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7521" y="1166842"/>
            <a:ext cx="1010553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Amazon Rufus may provide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inconsistent recommendations across different sessions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due to limited memory of previous interactions.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Integrate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Memory Agent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to retain chat history, preferences, and context.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Use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RAG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to retrieve relevant past information for accurate recommendations.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Introduce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Digital Twin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to represent customer preferences and behavior.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Improve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personalization, recommendation accuracy, and overall shopping experience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771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EB3A0-2AB9-46B3-9CCC-C5A9DE9DB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53526"/>
            <a:ext cx="10972800" cy="1143000"/>
          </a:xfrm>
        </p:spPr>
        <p:txBody>
          <a:bodyPr>
            <a:noAutofit/>
          </a:bodyPr>
          <a:lstStyle/>
          <a:p>
            <a:br>
              <a:rPr lang="en-US" sz="3600" dirty="0"/>
            </a:br>
            <a:r>
              <a:rPr lang="en-US" sz="3600" b="1" dirty="0">
                <a:solidFill>
                  <a:srgbClr val="C00000"/>
                </a:solidFill>
                <a:latin typeface="Georgia" panose="02040502050405020303" pitchFamily="18" charset="0"/>
              </a:rPr>
              <a:t>BASE PAPER / RESEARCH PAPER REFERENCE</a:t>
            </a:r>
            <a:br>
              <a:rPr lang="en-US" sz="3600" b="1" dirty="0">
                <a:solidFill>
                  <a:srgbClr val="C00000"/>
                </a:solidFill>
              </a:rPr>
            </a:br>
            <a:br>
              <a:rPr lang="en-US" sz="1800" dirty="0">
                <a:solidFill>
                  <a:srgbClr val="FF000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2400" b="1" dirty="0">
                <a:solidFill>
                  <a:schemeClr val="tx1"/>
                </a:solidFill>
                <a:latin typeface="Georgia" panose="02040502050405020303" pitchFamily="18" charset="0"/>
              </a:rPr>
              <a:t>LLM Agent Meets Agentic AI: Can LLM Agents Simulate Customers to Evaluate Agentic-AI-Based Shopping Assistants?</a:t>
            </a:r>
            <a:br>
              <a:rPr lang="en-IN" sz="2400" b="1" dirty="0">
                <a:solidFill>
                  <a:schemeClr val="tx1"/>
                </a:solidFill>
                <a:latin typeface="Georgia" panose="02040502050405020303" pitchFamily="18" charset="0"/>
              </a:rPr>
            </a:br>
            <a:br>
              <a:rPr lang="en-IN" sz="2400" b="1" dirty="0">
                <a:solidFill>
                  <a:schemeClr val="tx1"/>
                </a:solidFill>
                <a:latin typeface="Georgia" panose="02040502050405020303" pitchFamily="18" charset="0"/>
              </a:rPr>
            </a:br>
            <a:r>
              <a:rPr lang="en-IN" sz="2400" b="1" dirty="0">
                <a:solidFill>
                  <a:schemeClr val="bg2"/>
                </a:solidFill>
                <a:latin typeface="Georgia" panose="02040502050405020303" pitchFamily="18" charset="0"/>
              </a:rPr>
              <a:t>Objective</a:t>
            </a:r>
            <a:r>
              <a:rPr lang="en-IN" sz="2400" b="1" dirty="0">
                <a:latin typeface="Georgia" panose="02040502050405020303" pitchFamily="18" charset="0"/>
              </a:rPr>
              <a:t>:</a:t>
            </a:r>
            <a:r>
              <a:rPr lang="en-IN" sz="2400" dirty="0">
                <a:latin typeface="Georgia" panose="02040502050405020303" pitchFamily="18" charset="0"/>
              </a:rPr>
              <a:t> The paper evaluates AI shopping assistants like Amazon Rufus using AI Digital Twins.</a:t>
            </a:r>
            <a:br>
              <a:rPr lang="en-IN" sz="2400" dirty="0">
                <a:latin typeface="Georgia" panose="02040502050405020303" pitchFamily="18" charset="0"/>
              </a:rPr>
            </a:br>
            <a:br>
              <a:rPr lang="en-IN" sz="2400" b="1" dirty="0">
                <a:latin typeface="Georgia" panose="02040502050405020303" pitchFamily="18" charset="0"/>
              </a:rPr>
            </a:br>
            <a:br>
              <a:rPr lang="en-IN" sz="1800" dirty="0">
                <a:latin typeface="Georgia" panose="02040502050405020303" pitchFamily="18" charset="0"/>
              </a:rPr>
            </a:br>
            <a:endParaRPr lang="en-IN" sz="18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1A3F1-C6EF-4321-9AF2-3CAF5F19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4831" y="3450296"/>
            <a:ext cx="5384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bg2"/>
                </a:solidFill>
                <a:latin typeface="Georgia" panose="02040502050405020303" pitchFamily="18" charset="0"/>
              </a:rPr>
              <a:t>Technologies Used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Georgia" panose="02040502050405020303" pitchFamily="18" charset="0"/>
              </a:rPr>
              <a:t>LLM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Georgia" panose="02040502050405020303" pitchFamily="18" charset="0"/>
              </a:rPr>
              <a:t>Agentic AI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Georgia" panose="02040502050405020303" pitchFamily="18" charset="0"/>
              </a:rPr>
              <a:t>Digital Twin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Georgia" panose="02040502050405020303" pitchFamily="18" charset="0"/>
              </a:rPr>
              <a:t>Amazon Rufus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Georgia" panose="02040502050405020303" pitchFamily="18" charset="0"/>
              </a:rPr>
              <a:t>Claude 3.7 Sonnet</a:t>
            </a:r>
            <a:endParaRPr lang="en-IN" sz="2400" dirty="0">
              <a:latin typeface="Georgia" panose="02040502050405020303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C1E91-2EC3-43DC-8C54-3A8B604A815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74503" y="3450296"/>
            <a:ext cx="53848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400" b="1" dirty="0">
                <a:solidFill>
                  <a:schemeClr val="bg2"/>
                </a:solidFill>
                <a:latin typeface="Georgia" panose="02040502050405020303" pitchFamily="18" charset="0"/>
              </a:rPr>
              <a:t>Limitation</a:t>
            </a:r>
            <a:endParaRPr lang="en-IN" sz="2400" b="1" dirty="0">
              <a:latin typeface="Georgia" panose="02040502050405020303" pitchFamily="18" charset="0"/>
            </a:endParaRPr>
          </a:p>
          <a:p>
            <a:pPr>
              <a:buNone/>
            </a:pPr>
            <a:r>
              <a:rPr lang="en-IN" sz="2000" dirty="0">
                <a:latin typeface="Georgia" panose="02040502050405020303" pitchFamily="18" charset="0"/>
              </a:rPr>
              <a:t>The paper focuses on </a:t>
            </a:r>
            <a:r>
              <a:rPr lang="en-IN" sz="2000" b="1" dirty="0">
                <a:latin typeface="Georgia" panose="02040502050405020303" pitchFamily="18" charset="0"/>
              </a:rPr>
              <a:t>evaluation only</a:t>
            </a:r>
            <a:r>
              <a:rPr lang="en-IN" sz="2000" dirty="0">
                <a:latin typeface="Georgia" panose="02040502050405020303" pitchFamily="18" charset="0"/>
              </a:rPr>
              <a:t>.</a:t>
            </a:r>
          </a:p>
          <a:p>
            <a:pPr>
              <a:buNone/>
            </a:pPr>
            <a:r>
              <a:rPr lang="en-IN" sz="2000" dirty="0">
                <a:latin typeface="Georgia" panose="02040502050405020303" pitchFamily="18" charset="0"/>
              </a:rPr>
              <a:t>It does not include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Georgia" panose="02040502050405020303" pitchFamily="18" charset="0"/>
              </a:rPr>
              <a:t>Memory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Georgia" panose="02040502050405020303" pitchFamily="18" charset="0"/>
              </a:rPr>
              <a:t>RAG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Georgia" panose="02040502050405020303" pitchFamily="18" charset="0"/>
              </a:rPr>
              <a:t>Personalized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376438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E7139A-42EF-59F7-61A8-9ED941CE0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9431" y="653143"/>
            <a:ext cx="11179629" cy="5473023"/>
          </a:xfrm>
        </p:spPr>
        <p:txBody>
          <a:bodyPr>
            <a:normAutofit fontScale="85000" lnSpcReduction="20000"/>
          </a:bodyPr>
          <a:lstStyle/>
          <a:p>
            <a:pPr marL="38100" indent="0">
              <a:buNone/>
            </a:pPr>
            <a:r>
              <a:rPr lang="en-US" sz="3200" b="1" dirty="0">
                <a:solidFill>
                  <a:srgbClr val="FF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			</a:t>
            </a:r>
            <a:r>
              <a:rPr lang="en-US" sz="3500" b="1" dirty="0"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O</a:t>
            </a:r>
            <a:r>
              <a:rPr lang="en-IN" sz="3500" b="1" dirty="0"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UR PROPOSED APPROCH</a:t>
            </a:r>
          </a:p>
          <a:p>
            <a:pPr marL="38100" indent="0">
              <a:buNone/>
            </a:pPr>
            <a:endParaRPr lang="en-IN" sz="3200" b="1" dirty="0">
              <a:solidFill>
                <a:srgbClr val="FF0000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  <a:p>
            <a:pPr marL="38100" indent="0">
              <a:buNone/>
            </a:pPr>
            <a:r>
              <a:rPr lang="en-IN" sz="2400" b="1" dirty="0">
                <a:solidFill>
                  <a:schemeClr val="bg2"/>
                </a:solidFill>
                <a:latin typeface="Georgia" panose="02040502050405020303" pitchFamily="18" charset="0"/>
              </a:rPr>
              <a:t>Project Title:</a:t>
            </a:r>
            <a:r>
              <a:rPr lang="en-IN" sz="2400" dirty="0">
                <a:solidFill>
                  <a:schemeClr val="bg2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IN" sz="2400" i="1" dirty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Memory </a:t>
            </a:r>
            <a:r>
              <a:rPr lang="en-IN" sz="2400" i="1" dirty="0" err="1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Augumented</a:t>
            </a:r>
            <a:r>
              <a:rPr lang="en-IN" sz="2400" i="1" dirty="0">
                <a:solidFill>
                  <a:schemeClr val="tx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Multi Agents with RAG</a:t>
            </a:r>
          </a:p>
          <a:p>
            <a:pPr marL="38100" indent="0">
              <a:buNone/>
            </a:pPr>
            <a:endParaRPr lang="en-IN" sz="2400" b="1" i="1" kern="1200" dirty="0">
              <a:solidFill>
                <a:schemeClr val="tx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900" b="1" i="1" dirty="0">
                <a:latin typeface="Georgia" panose="02040502050405020303" pitchFamily="18" charset="0"/>
              </a:rPr>
              <a:t>To overcome this limitation, our project proposes</a:t>
            </a:r>
            <a:r>
              <a:rPr lang="en-IN" sz="2900" i="1" dirty="0">
                <a:latin typeface="Georgia" panose="02040502050405020303" pitchFamily="18" charset="0"/>
              </a:rPr>
              <a:t>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Gautami" panose="020B0502040204020203" pitchFamily="34" charset="0"/>
                <a:cs typeface="Gautami" panose="020B0502040204020203" pitchFamily="34" charset="0"/>
              </a:rPr>
              <a:t>Memory Agent</a:t>
            </a: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 to remember previous conversations.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Gautami" panose="020B0502040204020203" pitchFamily="34" charset="0"/>
                <a:cs typeface="Gautami" panose="020B0502040204020203" pitchFamily="34" charset="0"/>
              </a:rPr>
              <a:t>RAG (Retrieval-Augmented Generation)</a:t>
            </a: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 to retrieve accurate product information.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Gautami" panose="020B0502040204020203" pitchFamily="34" charset="0"/>
                <a:cs typeface="Gautami" panose="020B0502040204020203" pitchFamily="34" charset="0"/>
              </a:rPr>
              <a:t>Digital Twin</a:t>
            </a: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 to model customer preferences and shopping </a:t>
            </a:r>
            <a:r>
              <a:rPr lang="en-IN" sz="2500" dirty="0" err="1">
                <a:latin typeface="Gautami" panose="020B0502040204020203" pitchFamily="34" charset="0"/>
                <a:cs typeface="Gautami" panose="020B0502040204020203" pitchFamily="34" charset="0"/>
              </a:rPr>
              <a:t>behavior</a:t>
            </a: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Gautami" panose="020B0502040204020203" pitchFamily="34" charset="0"/>
                <a:cs typeface="Gautami" panose="020B0502040204020203" pitchFamily="34" charset="0"/>
              </a:rPr>
              <a:t>Multi-Agent Architecture</a:t>
            </a: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 to divide tasks among specialized AI agents.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b="1" dirty="0">
                <a:latin typeface="Gautami" panose="020B0502040204020203" pitchFamily="34" charset="0"/>
                <a:cs typeface="Gautami" panose="020B0502040204020203" pitchFamily="34" charset="0"/>
              </a:rPr>
              <a:t>Explainable Web-based shopping assistant </a:t>
            </a: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that</a:t>
            </a:r>
            <a:r>
              <a:rPr lang="en-IN" sz="2500" b="1" dirty="0">
                <a:latin typeface="Gautami" panose="020B0502040204020203" pitchFamily="34" charset="0"/>
                <a:cs typeface="Gautami" panose="020B0502040204020203" pitchFamily="34" charset="0"/>
              </a:rPr>
              <a:t> </a:t>
            </a: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recommends products from multiple e-commerce platforms.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Provide personalized recommendations from </a:t>
            </a:r>
            <a:r>
              <a:rPr lang="en-IN" sz="2500" b="1" dirty="0">
                <a:latin typeface="Gautami" panose="020B0502040204020203" pitchFamily="34" charset="0"/>
                <a:cs typeface="Gautami" panose="020B0502040204020203" pitchFamily="34" charset="0"/>
              </a:rPr>
              <a:t>previous chats</a:t>
            </a: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Maintain conversation history.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Improve recommendation accuracy.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Gautami" panose="020B0502040204020203" pitchFamily="34" charset="0"/>
                <a:cs typeface="Gautami" panose="020B0502040204020203" pitchFamily="34" charset="0"/>
              </a:rPr>
              <a:t>Deliver a consistent shopping experience.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Georgia" panose="02040502050405020303" pitchFamily="18" charset="0"/>
            </a:endParaRPr>
          </a:p>
          <a:p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232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8B95A-C4DE-2B53-D898-4F81D5D77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75070"/>
            <a:ext cx="11092543" cy="5734280"/>
          </a:xfrm>
        </p:spPr>
        <p:txBody>
          <a:bodyPr/>
          <a:lstStyle/>
          <a:p>
            <a:pPr marL="38100" indent="0">
              <a:buNone/>
            </a:pPr>
            <a:r>
              <a:rPr lang="en-US" sz="3200" b="1" kern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			    </a:t>
            </a:r>
            <a:r>
              <a:rPr lang="en-US" sz="3200" b="1" kern="1200" dirty="0"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DATASET DETAILS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4359DA-287C-499A-16C0-88BA240B45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270878"/>
              </p:ext>
            </p:extLst>
          </p:nvPr>
        </p:nvGraphicFramePr>
        <p:xfrm>
          <a:off x="892629" y="848412"/>
          <a:ext cx="10689772" cy="590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2443">
                  <a:extLst>
                    <a:ext uri="{9D8B030D-6E8A-4147-A177-3AD203B41FA5}">
                      <a16:colId xmlns:a16="http://schemas.microsoft.com/office/drawing/2014/main" val="2387275718"/>
                    </a:ext>
                  </a:extLst>
                </a:gridCol>
                <a:gridCol w="2672443">
                  <a:extLst>
                    <a:ext uri="{9D8B030D-6E8A-4147-A177-3AD203B41FA5}">
                      <a16:colId xmlns:a16="http://schemas.microsoft.com/office/drawing/2014/main" val="2556318123"/>
                    </a:ext>
                  </a:extLst>
                </a:gridCol>
                <a:gridCol w="2672443">
                  <a:extLst>
                    <a:ext uri="{9D8B030D-6E8A-4147-A177-3AD203B41FA5}">
                      <a16:colId xmlns:a16="http://schemas.microsoft.com/office/drawing/2014/main" val="1096158353"/>
                    </a:ext>
                  </a:extLst>
                </a:gridCol>
                <a:gridCol w="2672443">
                  <a:extLst>
                    <a:ext uri="{9D8B030D-6E8A-4147-A177-3AD203B41FA5}">
                      <a16:colId xmlns:a16="http://schemas.microsoft.com/office/drawing/2014/main" val="3026386046"/>
                    </a:ext>
                  </a:extLst>
                </a:gridCol>
              </a:tblGrid>
              <a:tr h="315891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Search on Kaggle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Recommended Author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2270462"/>
                  </a:ext>
                </a:extLst>
              </a:tr>
              <a:tr h="648814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1.Intent Detection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Shopping Queries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Shopping Queries Dataset or Amazon ESCI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Science / Official mirror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365165"/>
                  </a:ext>
                </a:extLst>
              </a:tr>
              <a:tr h="315891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2.Search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Reviews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Reviews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Raviraj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663532"/>
                  </a:ext>
                </a:extLst>
              </a:tr>
              <a:tr h="758139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3.Recommendation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Reviews + </a:t>
                      </a:r>
                      <a:r>
                        <a:rPr lang="en-IN" sz="1400" dirty="0" err="1"/>
                        <a:t>RetailRocket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Reviews 2023, </a:t>
                      </a:r>
                      <a:r>
                        <a:rPr lang="en-IN" sz="1400" dirty="0" err="1"/>
                        <a:t>RetailRocket</a:t>
                      </a:r>
                      <a:r>
                        <a:rPr lang="en-IN" sz="1400" dirty="0"/>
                        <a:t> Recommender System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Raviraj + </a:t>
                      </a:r>
                      <a:r>
                        <a:rPr lang="en-IN" sz="1400" dirty="0" err="1"/>
                        <a:t>RetailRocket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743021"/>
                  </a:ext>
                </a:extLst>
              </a:tr>
              <a:tr h="758139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4.Memory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Application-generated chat history +(</a:t>
                      </a:r>
                      <a:r>
                        <a:rPr lang="en-IN" sz="1400" dirty="0" err="1"/>
                        <a:t>Mongodb</a:t>
                      </a:r>
                      <a:r>
                        <a:rPr lang="en-IN" sz="1400" dirty="0"/>
                        <a:t>)+</a:t>
                      </a:r>
                      <a:r>
                        <a:rPr lang="en-IN" sz="1400" dirty="0" err="1"/>
                        <a:t>RetailRocket</a:t>
                      </a:r>
                      <a:r>
                        <a:rPr lang="en-IN" sz="1400" dirty="0"/>
                        <a:t>(test)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/>
                        <a:t>RetailRocket</a:t>
                      </a:r>
                      <a:r>
                        <a:rPr lang="en-IN" sz="1400" dirty="0"/>
                        <a:t> Recommender System Dataset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/>
                        <a:t>RetailRocket</a:t>
                      </a:r>
                      <a:r>
                        <a:rPr lang="en-IN" sz="14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0826455"/>
                  </a:ext>
                </a:extLst>
              </a:tr>
              <a:tr h="315891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5.Digital Twin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Customer Personality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Customer Personality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Akash Patel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0719355"/>
                  </a:ext>
                </a:extLst>
              </a:tr>
              <a:tr h="315891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6.Review Analysis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Reviews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Raviraj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0097569"/>
                  </a:ext>
                </a:extLst>
              </a:tr>
              <a:tr h="459577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7.Price Intelligent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Products /reviews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Products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Raviraj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268722"/>
                  </a:ext>
                </a:extLst>
              </a:tr>
              <a:tr h="315891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8.Budget Planning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Customer Personality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 Customer Personality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Akash Patel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494682"/>
                  </a:ext>
                </a:extLst>
              </a:tr>
              <a:tr h="315891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9.Coupon &amp; Offers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Products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Amazon Products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Raviraj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6567265"/>
                  </a:ext>
                </a:extLst>
              </a:tr>
              <a:tr h="537015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10.Notification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/>
                        <a:t>RetailRocketDataset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/>
                        <a:t>RetailRocket</a:t>
                      </a:r>
                      <a:r>
                        <a:rPr lang="en-IN" sz="1400" dirty="0"/>
                        <a:t> Recommender System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/>
                        <a:t>RetailRocket</a:t>
                      </a:r>
                      <a:r>
                        <a:rPr lang="en-IN" sz="1400" dirty="0"/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1444572"/>
                  </a:ext>
                </a:extLst>
              </a:tr>
              <a:tr h="537015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11.Cart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/>
                        <a:t>RetailRocketDataset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/>
                        <a:t>RetailRocket</a:t>
                      </a:r>
                      <a:r>
                        <a:rPr lang="en-IN" sz="1400" dirty="0"/>
                        <a:t> Recommender System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 err="1"/>
                        <a:t>RetailRocket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995145"/>
                  </a:ext>
                </a:extLst>
              </a:tr>
              <a:tr h="315891"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12.Orchestrator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No dataset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0730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78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B47FB-F582-525C-C004-650AD37EB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377" y="206187"/>
            <a:ext cx="11125200" cy="717177"/>
          </a:xfrm>
        </p:spPr>
        <p:txBody>
          <a:bodyPr>
            <a:normAutofit/>
          </a:bodyPr>
          <a:lstStyle/>
          <a:p>
            <a:pPr marL="15240" indent="0">
              <a:buNone/>
            </a:pPr>
            <a:r>
              <a:rPr lang="en-IN" sz="3200" b="1" dirty="0">
                <a:solidFill>
                  <a:srgbClr val="C00000"/>
                </a:solidFill>
                <a:latin typeface="Georgia" panose="02040502050405020303" pitchFamily="18" charset="0"/>
              </a:rPr>
              <a:t>	     IMPROVEMENTS OVER BASE PAPER</a:t>
            </a:r>
            <a:endParaRPr lang="en-IN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5DB5D72-34CC-61E9-EA74-4FF9283C1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7556"/>
              </p:ext>
            </p:extLst>
          </p:nvPr>
        </p:nvGraphicFramePr>
        <p:xfrm>
          <a:off x="1333500" y="1066802"/>
          <a:ext cx="9525000" cy="524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62500">
                  <a:extLst>
                    <a:ext uri="{9D8B030D-6E8A-4147-A177-3AD203B41FA5}">
                      <a16:colId xmlns:a16="http://schemas.microsoft.com/office/drawing/2014/main" val="1102568134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421345552"/>
                    </a:ext>
                  </a:extLst>
                </a:gridCol>
              </a:tblGrid>
              <a:tr h="7493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b="1" dirty="0"/>
                        <a:t>Base Paper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b="1" dirty="0"/>
                        <a:t>Our Project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773697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Digital Twin for Evaluation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Digital Twin for Personalization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2028978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No Long-Term Memory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Memory Agent for Long-Term User Memory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42508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No RAG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RAG for Product Knowledge Retrieval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705416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Single Agent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Multi-Agent System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206285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r>
                        <a:rPr lang="en-IN" sz="1800" dirty="0"/>
                        <a:t>No Review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Review Analysis Agent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3284250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Evaluation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/>
                        <a:t>Smart Shopping Assistant</a:t>
                      </a:r>
                    </a:p>
                    <a:p>
                      <a:endParaRPr lang="en-IN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188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687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56688C4C-D813-7843-F2D3-15BD4A7BE988}"/>
              </a:ext>
            </a:extLst>
          </p:cNvPr>
          <p:cNvSpPr txBox="1"/>
          <p:nvPr/>
        </p:nvSpPr>
        <p:spPr>
          <a:xfrm>
            <a:off x="3545511" y="0"/>
            <a:ext cx="5599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C00000"/>
                </a:solidFill>
                <a:latin typeface="Georgia" panose="02040502050405020303" pitchFamily="18" charset="0"/>
              </a:rPr>
              <a:t>ARCHITECTURE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39485A-7801-ACFC-04AB-30AE3FEB58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6" r="3335"/>
          <a:stretch>
            <a:fillRect/>
          </a:stretch>
        </p:blipFill>
        <p:spPr>
          <a:xfrm>
            <a:off x="1012723" y="523219"/>
            <a:ext cx="10451690" cy="62989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24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5BAA-AD20-479D-841F-1D6CA5CF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7" y="-29497"/>
            <a:ext cx="10972800" cy="713504"/>
          </a:xfrm>
        </p:spPr>
        <p:txBody>
          <a:bodyPr>
            <a:normAutofit/>
          </a:bodyPr>
          <a:lstStyle/>
          <a:p>
            <a:r>
              <a:rPr lang="en-US" sz="3300" b="1" dirty="0">
                <a:solidFill>
                  <a:srgbClr val="C00000"/>
                </a:solidFill>
                <a:latin typeface="Georgia" panose="02040502050405020303" pitchFamily="18" charset="0"/>
              </a:rPr>
              <a:t>FEATURES</a:t>
            </a:r>
            <a:endParaRPr lang="en-IN" sz="33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20BAF39-695E-ACAA-A0BB-F7EF169E3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2362552"/>
              </p:ext>
            </p:extLst>
          </p:nvPr>
        </p:nvGraphicFramePr>
        <p:xfrm>
          <a:off x="793841" y="615181"/>
          <a:ext cx="10788556" cy="61388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06225">
                  <a:extLst>
                    <a:ext uri="{9D8B030D-6E8A-4147-A177-3AD203B41FA5}">
                      <a16:colId xmlns:a16="http://schemas.microsoft.com/office/drawing/2014/main" val="3452477260"/>
                    </a:ext>
                  </a:extLst>
                </a:gridCol>
                <a:gridCol w="6582331">
                  <a:extLst>
                    <a:ext uri="{9D8B030D-6E8A-4147-A177-3AD203B41FA5}">
                      <a16:colId xmlns:a16="http://schemas.microsoft.com/office/drawing/2014/main" val="4046498564"/>
                    </a:ext>
                  </a:extLst>
                </a:gridCol>
              </a:tblGrid>
              <a:tr h="567858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ptos" panose="020B0004020202020204" pitchFamily="34" charset="0"/>
                        </a:rPr>
                        <a:t>Persistent Memory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Georgia" panose="02040502050405020303" pitchFamily="18" charset="0"/>
                        </a:rPr>
                        <a:t>Remembers previous conversations and preferences 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237111"/>
                  </a:ext>
                </a:extLst>
              </a:tr>
              <a:tr h="567858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ptos" panose="020B0004020202020204" pitchFamily="34" charset="0"/>
                        </a:rPr>
                        <a:t>Digital Twin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Georgia" panose="02040502050405020303" pitchFamily="18" charset="0"/>
                        </a:rPr>
                        <a:t>Builds a personalized user shopping profile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7559215"/>
                  </a:ext>
                </a:extLst>
              </a:tr>
              <a:tr h="567858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ptos" panose="020B0004020202020204" pitchFamily="34" charset="0"/>
                        </a:rPr>
                        <a:t>RAG-Based Product Retrieval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Georgia" panose="02040502050405020303" pitchFamily="18" charset="0"/>
                        </a:rPr>
                        <a:t>Retrieves relevant and accurate product information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759039"/>
                  </a:ext>
                </a:extLst>
              </a:tr>
              <a:tr h="578740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ptos" panose="020B0004020202020204" pitchFamily="34" charset="0"/>
                        </a:rPr>
                        <a:t>Multi-Agent Intelligence Specialized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Georgia" panose="02040502050405020303" pitchFamily="18" charset="0"/>
                        </a:rPr>
                        <a:t> Handle different shopping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827986"/>
                  </a:ext>
                </a:extLst>
              </a:tr>
              <a:tr h="567858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ptos" panose="020B0004020202020204" pitchFamily="34" charset="0"/>
                        </a:rPr>
                        <a:t>Multi-Platform Shopping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Georgia" panose="02040502050405020303" pitchFamily="18" charset="0"/>
                        </a:rPr>
                        <a:t>Compare products across multiple e-commerce platforms,</a:t>
                      </a:r>
                    </a:p>
                    <a:p>
                      <a:r>
                        <a:rPr lang="en-US" sz="1800" dirty="0">
                          <a:latin typeface="Georgia" panose="02040502050405020303" pitchFamily="18" charset="0"/>
                        </a:rPr>
                        <a:t>Shopping experience of multiple platform in this single platform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3366632"/>
                  </a:ext>
                </a:extLst>
              </a:tr>
              <a:tr h="567858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ptos" panose="020B0004020202020204" pitchFamily="34" charset="0"/>
                        </a:rPr>
                        <a:t>Personalized Recommendations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Georgia" panose="02040502050405020303" pitchFamily="18" charset="0"/>
                        </a:rPr>
                        <a:t>Recommendations based on user preferences and behavior 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234077"/>
                  </a:ext>
                </a:extLst>
              </a:tr>
              <a:tr h="464956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ptos" panose="020B0004020202020204" pitchFamily="34" charset="0"/>
                        </a:rPr>
                        <a:t>Review &amp; Price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Georgia" panose="02040502050405020303" pitchFamily="18" charset="0"/>
                        </a:rPr>
                        <a:t>Analyze reviews and track price changes 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593965"/>
                  </a:ext>
                </a:extLst>
              </a:tr>
              <a:tr h="567858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Aptos" panose="020B0004020202020204" pitchFamily="34" charset="0"/>
                        </a:rPr>
                        <a:t>Smart Notifications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Georgia" panose="02040502050405020303" pitchFamily="18" charset="0"/>
                        </a:rPr>
                        <a:t>Alerts for price drops of products in </a:t>
                      </a:r>
                      <a:r>
                        <a:rPr lang="en-US" sz="1800" dirty="0" err="1">
                          <a:latin typeface="Georgia" panose="02040502050405020303" pitchFamily="18" charset="0"/>
                        </a:rPr>
                        <a:t>wishlist</a:t>
                      </a:r>
                      <a:r>
                        <a:rPr lang="en-US" sz="1800" dirty="0">
                          <a:latin typeface="Georgia" panose="02040502050405020303" pitchFamily="18" charset="0"/>
                        </a:rPr>
                        <a:t>, sale reminders and relevant product updates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95369"/>
                  </a:ext>
                </a:extLst>
              </a:tr>
              <a:tr h="567858"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Aptos" panose="020B0004020202020204" pitchFamily="34" charset="0"/>
                        </a:rPr>
                        <a:t>Product Comparison</a:t>
                      </a:r>
                      <a:endParaRPr lang="en-IN" sz="18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Georgia" panose="02040502050405020303" pitchFamily="18" charset="0"/>
                        </a:rPr>
                        <a:t>Lets user compare up to 4 products on the basis of their specified features (Determined by digital twin)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137226"/>
                  </a:ext>
                </a:extLst>
              </a:tr>
              <a:tr h="567858">
                <a:tc>
                  <a:txBody>
                    <a:bodyPr/>
                    <a:lstStyle/>
                    <a:p>
                      <a:endParaRPr lang="en-IN" sz="1800" b="1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8526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945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A08E3-95EA-0A9E-0373-59D6BC019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560" y="-1"/>
            <a:ext cx="11104880" cy="599969"/>
          </a:xfrm>
        </p:spPr>
        <p:txBody>
          <a:bodyPr>
            <a:normAutofit fontScale="92500" lnSpcReduction="10000"/>
          </a:bodyPr>
          <a:lstStyle/>
          <a:p>
            <a:pPr marL="15240" indent="0">
              <a:buNone/>
            </a:pPr>
            <a:r>
              <a:rPr lang="en-IN" sz="3200" b="1" kern="1200" dirty="0">
                <a:solidFill>
                  <a:srgbClr val="FF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	</a:t>
            </a:r>
            <a:r>
              <a:rPr lang="en-IN" sz="3200" b="1" kern="1200" dirty="0">
                <a:solidFill>
                  <a:srgbClr val="C0000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	PROPOSED DEPLOYMENT PLAN </a:t>
            </a:r>
            <a:endParaRPr lang="en-IN" sz="3200" b="1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AFE218-D16B-4E90-A2E6-A4630E089B67}"/>
              </a:ext>
            </a:extLst>
          </p:cNvPr>
          <p:cNvSpPr txBox="1"/>
          <p:nvPr/>
        </p:nvSpPr>
        <p:spPr>
          <a:xfrm>
            <a:off x="1052051" y="599968"/>
            <a:ext cx="5388077" cy="564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" indent="0" algn="ctr">
              <a:buNone/>
            </a:pPr>
            <a:r>
              <a:rPr lang="en-IN" sz="2400" b="1" dirty="0">
                <a:solidFill>
                  <a:schemeClr val="bg2"/>
                </a:solidFill>
                <a:latin typeface="Georgia" panose="02040502050405020303" pitchFamily="18" charset="0"/>
              </a:rPr>
              <a:t>Application Stack</a:t>
            </a:r>
            <a:endParaRPr lang="en-IN" sz="1200" b="1" dirty="0">
              <a:solidFill>
                <a:schemeClr val="bg2"/>
              </a:solidFill>
              <a:latin typeface="Georgia" panose="02040502050405020303" pitchFamily="18" charset="0"/>
            </a:endParaRPr>
          </a:p>
          <a:p>
            <a:pPr>
              <a:spcBef>
                <a:spcPts val="800"/>
              </a:spcBef>
            </a:pPr>
            <a:r>
              <a:rPr lang="en-IN" b="1" dirty="0">
                <a:latin typeface="Georgia" panose="02040502050405020303" pitchFamily="18" charset="0"/>
              </a:rPr>
              <a:t>Client:</a:t>
            </a:r>
            <a:r>
              <a:rPr lang="en-IN" dirty="0">
                <a:latin typeface="Georgia" panose="02040502050405020303" pitchFamily="18" charset="0"/>
              </a:rPr>
              <a:t> React.js Web Client </a:t>
            </a:r>
            <a:endParaRPr lang="en-IN" b="1" dirty="0">
              <a:latin typeface="Georgia" panose="02040502050405020303" pitchFamily="18" charset="0"/>
            </a:endParaRPr>
          </a:p>
          <a:p>
            <a:pPr>
              <a:spcBef>
                <a:spcPts val="800"/>
              </a:spcBef>
            </a:pPr>
            <a:r>
              <a:rPr lang="en-IN" b="1" dirty="0">
                <a:latin typeface="Georgia" panose="02040502050405020303" pitchFamily="18" charset="0"/>
              </a:rPr>
              <a:t>Cloud:</a:t>
            </a:r>
            <a:r>
              <a:rPr lang="en-IN" dirty="0">
                <a:latin typeface="Georgia" panose="02040502050405020303" pitchFamily="18" charset="0"/>
              </a:rPr>
              <a:t> AWS </a:t>
            </a:r>
            <a:endParaRPr lang="en-IN" b="1" dirty="0">
              <a:latin typeface="Georgia" panose="02040502050405020303" pitchFamily="18" charset="0"/>
            </a:endParaRPr>
          </a:p>
          <a:p>
            <a:pPr>
              <a:spcBef>
                <a:spcPts val="800"/>
              </a:spcBef>
            </a:pPr>
            <a:r>
              <a:rPr lang="en-IN" b="1" dirty="0">
                <a:latin typeface="Georgia" panose="02040502050405020303" pitchFamily="18" charset="0"/>
              </a:rPr>
              <a:t>Deployment:</a:t>
            </a:r>
            <a:r>
              <a:rPr lang="en-IN" dirty="0">
                <a:latin typeface="Georgia" panose="02040502050405020303" pitchFamily="18" charset="0"/>
              </a:rPr>
              <a:t> Amazon EKS (Kubernetes Cluster) </a:t>
            </a:r>
          </a:p>
          <a:p>
            <a:pPr>
              <a:spcBef>
                <a:spcPts val="800"/>
              </a:spcBef>
            </a:pPr>
            <a:r>
              <a:rPr lang="en-IN" b="1" dirty="0">
                <a:latin typeface="Georgia" panose="02040502050405020303" pitchFamily="18" charset="0"/>
              </a:rPr>
              <a:t>Backend Services:</a:t>
            </a:r>
            <a:r>
              <a:rPr lang="en-IN" dirty="0">
                <a:latin typeface="Georgia" panose="02040502050405020303" pitchFamily="18" charset="0"/>
              </a:rPr>
              <a:t> </a:t>
            </a:r>
            <a:r>
              <a:rPr lang="en-IN" dirty="0" err="1">
                <a:latin typeface="Georgia" panose="02040502050405020303" pitchFamily="18" charset="0"/>
              </a:rPr>
              <a:t>FastAPI</a:t>
            </a:r>
            <a:r>
              <a:rPr lang="en-IN" dirty="0">
                <a:latin typeface="Georgia" panose="02040502050405020303" pitchFamily="18" charset="0"/>
              </a:rPr>
              <a:t> – Authentication, User, Product, Search, Recommendation, Price Tracking &amp; Notification </a:t>
            </a:r>
          </a:p>
          <a:p>
            <a:pPr>
              <a:spcBef>
                <a:spcPts val="800"/>
              </a:spcBef>
            </a:pPr>
            <a:r>
              <a:rPr lang="en-IN" b="1" dirty="0">
                <a:latin typeface="Georgia" panose="02040502050405020303" pitchFamily="18" charset="0"/>
              </a:rPr>
              <a:t>AI / Agent Orchestration: </a:t>
            </a:r>
            <a:r>
              <a:rPr lang="en-IN" dirty="0" err="1">
                <a:latin typeface="Georgia" panose="02040502050405020303" pitchFamily="18" charset="0"/>
              </a:rPr>
              <a:t>LangGraph</a:t>
            </a:r>
            <a:r>
              <a:rPr lang="en-IN" dirty="0">
                <a:latin typeface="Georgia" panose="02040502050405020303" pitchFamily="18" charset="0"/>
              </a:rPr>
              <a:t> + Gemini API </a:t>
            </a:r>
          </a:p>
          <a:p>
            <a:pPr>
              <a:spcBef>
                <a:spcPts val="800"/>
              </a:spcBef>
            </a:pPr>
            <a:r>
              <a:rPr lang="en-IN" b="1" dirty="0">
                <a:latin typeface="Georgia" panose="02040502050405020303" pitchFamily="18" charset="0"/>
              </a:rPr>
              <a:t>Database:</a:t>
            </a:r>
            <a:r>
              <a:rPr lang="en-IN" dirty="0">
                <a:latin typeface="Georgia" panose="02040502050405020303" pitchFamily="18" charset="0"/>
              </a:rPr>
              <a:t> MongoDB</a:t>
            </a:r>
          </a:p>
          <a:p>
            <a:pPr>
              <a:spcBef>
                <a:spcPts val="800"/>
              </a:spcBef>
            </a:pPr>
            <a:r>
              <a:rPr lang="en-IN" b="1" dirty="0">
                <a:latin typeface="Georgia" panose="02040502050405020303" pitchFamily="18" charset="0"/>
              </a:rPr>
              <a:t>Cache:</a:t>
            </a:r>
            <a:r>
              <a:rPr lang="en-IN" dirty="0">
                <a:latin typeface="Georgia" panose="02040502050405020303" pitchFamily="18" charset="0"/>
              </a:rPr>
              <a:t> Redis </a:t>
            </a:r>
          </a:p>
          <a:p>
            <a:pPr>
              <a:spcBef>
                <a:spcPts val="800"/>
              </a:spcBef>
            </a:pPr>
            <a:r>
              <a:rPr lang="en-IN" b="1" dirty="0">
                <a:latin typeface="Georgia" panose="02040502050405020303" pitchFamily="18" charset="0"/>
              </a:rPr>
              <a:t>Vector Database:</a:t>
            </a:r>
            <a:r>
              <a:rPr lang="en-IN" dirty="0">
                <a:latin typeface="Georgia" panose="02040502050405020303" pitchFamily="18" charset="0"/>
              </a:rPr>
              <a:t> </a:t>
            </a:r>
            <a:r>
              <a:rPr lang="en-IN" dirty="0" err="1">
                <a:latin typeface="Georgia" panose="02040502050405020303" pitchFamily="18" charset="0"/>
              </a:rPr>
              <a:t>ChromaDB</a:t>
            </a:r>
            <a:endParaRPr lang="en-IN" dirty="0">
              <a:latin typeface="Georgia" panose="02040502050405020303" pitchFamily="18" charset="0"/>
            </a:endParaRPr>
          </a:p>
          <a:p>
            <a:pPr>
              <a:spcBef>
                <a:spcPts val="800"/>
              </a:spcBef>
            </a:pPr>
            <a:r>
              <a:rPr lang="en-IN" b="1" dirty="0">
                <a:latin typeface="Georgia" panose="02040502050405020303" pitchFamily="18" charset="0"/>
              </a:rPr>
              <a:t>RAG:</a:t>
            </a:r>
            <a:r>
              <a:rPr lang="en-IN" dirty="0">
                <a:latin typeface="Georgia" panose="02040502050405020303" pitchFamily="18" charset="0"/>
              </a:rPr>
              <a:t> </a:t>
            </a:r>
            <a:r>
              <a:rPr lang="en-IN" dirty="0" err="1">
                <a:latin typeface="Georgia" panose="02040502050405020303" pitchFamily="18" charset="0"/>
              </a:rPr>
              <a:t>LangChain</a:t>
            </a:r>
            <a:r>
              <a:rPr lang="en-IN" dirty="0">
                <a:latin typeface="Georgia" panose="02040502050405020303" pitchFamily="18" charset="0"/>
              </a:rPr>
              <a:t> + </a:t>
            </a:r>
            <a:r>
              <a:rPr lang="en-IN" dirty="0" err="1">
                <a:latin typeface="Georgia" panose="02040502050405020303" pitchFamily="18" charset="0"/>
              </a:rPr>
              <a:t>ChromaDB</a:t>
            </a:r>
            <a:endParaRPr lang="en-IN" dirty="0">
              <a:latin typeface="Georgia" panose="02040502050405020303" pitchFamily="18" charset="0"/>
            </a:endParaRPr>
          </a:p>
          <a:p>
            <a:pPr>
              <a:spcBef>
                <a:spcPts val="800"/>
              </a:spcBef>
            </a:pPr>
            <a:r>
              <a:rPr lang="en-IN" b="1" dirty="0">
                <a:latin typeface="Georgia" panose="02040502050405020303" pitchFamily="18" charset="0"/>
              </a:rPr>
              <a:t>External Services: </a:t>
            </a:r>
            <a:r>
              <a:rPr lang="en-IN" dirty="0">
                <a:latin typeface="Georgia" panose="02040502050405020303" pitchFamily="18" charset="0"/>
              </a:rPr>
              <a:t>Amazon, Flipkart &amp; Myntra APIs, Firebase for notifications</a:t>
            </a:r>
          </a:p>
          <a:p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9F0EA2-3A0D-4A7A-49E1-9E9FA811A067}"/>
              </a:ext>
            </a:extLst>
          </p:cNvPr>
          <p:cNvSpPr txBox="1"/>
          <p:nvPr/>
        </p:nvSpPr>
        <p:spPr>
          <a:xfrm>
            <a:off x="6440128" y="599969"/>
            <a:ext cx="565354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" indent="0" algn="ctr">
              <a:buNone/>
            </a:pPr>
            <a:r>
              <a:rPr lang="en-US" sz="2400" b="1" dirty="0">
                <a:solidFill>
                  <a:schemeClr val="bg2"/>
                </a:solidFill>
                <a:latin typeface="Georgia" panose="02040502050405020303" pitchFamily="18" charset="0"/>
              </a:rPr>
              <a:t>Application Flow</a:t>
            </a: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User</a:t>
            </a:r>
          </a:p>
          <a:p>
            <a:pPr marL="15240" algn="ctr"/>
            <a:r>
              <a:rPr lang="en-IN" dirty="0"/>
              <a:t>↓</a:t>
            </a: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Onboarding</a:t>
            </a:r>
          </a:p>
          <a:p>
            <a:pPr marL="15240" algn="ctr"/>
            <a:r>
              <a:rPr lang="en-IN" dirty="0"/>
              <a:t>↓</a:t>
            </a: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Digital Persona Twin</a:t>
            </a:r>
          </a:p>
          <a:p>
            <a:pPr marL="15240" algn="ctr"/>
            <a:r>
              <a:rPr lang="en-IN" dirty="0"/>
              <a:t>↓</a:t>
            </a: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Query/Intent</a:t>
            </a:r>
          </a:p>
          <a:p>
            <a:pPr marL="15240" algn="ctr"/>
            <a:r>
              <a:rPr lang="en-IN" dirty="0"/>
              <a:t>↓</a:t>
            </a: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AI Orchestrator</a:t>
            </a:r>
          </a:p>
          <a:p>
            <a:pPr marL="15240" algn="ctr"/>
            <a:r>
              <a:rPr lang="en-IN" dirty="0"/>
              <a:t>↓</a:t>
            </a: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Search + Memory + Recommendation Agents</a:t>
            </a:r>
          </a:p>
          <a:p>
            <a:pPr marL="15240" algn="ctr"/>
            <a:r>
              <a:rPr lang="en-IN" dirty="0"/>
              <a:t>↓</a:t>
            </a:r>
            <a:endParaRPr lang="en-IN" dirty="0">
              <a:latin typeface="Georgia" panose="02040502050405020303" pitchFamily="18" charset="0"/>
            </a:endParaRP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Review/Price Analysis</a:t>
            </a:r>
          </a:p>
          <a:p>
            <a:pPr marL="15240" algn="ctr"/>
            <a:r>
              <a:rPr lang="en-IN" dirty="0"/>
              <a:t>↓</a:t>
            </a: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Personalized Recommendation</a:t>
            </a:r>
          </a:p>
          <a:p>
            <a:pPr marL="15240" algn="ctr"/>
            <a:r>
              <a:rPr lang="en-IN" dirty="0"/>
              <a:t>↓</a:t>
            </a: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Compare/Cart</a:t>
            </a:r>
          </a:p>
          <a:p>
            <a:pPr marL="15240" algn="ctr"/>
            <a:r>
              <a:rPr lang="en-IN" dirty="0"/>
              <a:t>↓</a:t>
            </a: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Purchase</a:t>
            </a:r>
          </a:p>
          <a:p>
            <a:pPr marL="15240" algn="ctr"/>
            <a:r>
              <a:rPr lang="en-IN" dirty="0"/>
              <a:t>↓</a:t>
            </a:r>
          </a:p>
          <a:p>
            <a:pPr marL="15240" algn="ctr"/>
            <a:r>
              <a:rPr lang="en-IN" dirty="0">
                <a:latin typeface="Georgia" panose="02040502050405020303" pitchFamily="18" charset="0"/>
              </a:rPr>
              <a:t>Update Memory &amp; Digital Twin</a:t>
            </a:r>
          </a:p>
          <a:p>
            <a:pPr marL="15240" indent="0">
              <a:buNone/>
            </a:pPr>
            <a:endParaRPr lang="en-US" sz="2400" b="1" dirty="0">
              <a:solidFill>
                <a:schemeClr val="bg2"/>
              </a:solidFill>
              <a:latin typeface="Georgia" panose="02040502050405020303" pitchFamily="18" charset="0"/>
            </a:endParaRPr>
          </a:p>
          <a:p>
            <a:pPr marL="15240" indent="0">
              <a:buNone/>
            </a:pPr>
            <a:endParaRPr lang="en-US" sz="2400" b="1" dirty="0">
              <a:solidFill>
                <a:schemeClr val="bg2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728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0C036-5BFF-E69C-6FD7-72493ABF7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768" y="480026"/>
            <a:ext cx="10972800" cy="837497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en-IN" sz="3600" b="1" dirty="0">
                <a:solidFill>
                  <a:srgbClr val="C00000"/>
                </a:solidFill>
                <a:latin typeface="Georgia" panose="02040502050405020303" pitchFamily="18" charset="0"/>
              </a:rPr>
              <a:t>TARGET USERS, INPUT &amp; FINAL OUTCOME</a:t>
            </a:r>
          </a:p>
          <a:p>
            <a:pPr marL="15240" indent="0">
              <a:buNone/>
            </a:pPr>
            <a:endParaRPr lang="en-IN" sz="1700" dirty="0">
              <a:latin typeface="Georgia" panose="0204050205040502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9F580A-149B-CF37-73CF-DB40275216D0}"/>
              </a:ext>
            </a:extLst>
          </p:cNvPr>
          <p:cNvSpPr txBox="1"/>
          <p:nvPr/>
        </p:nvSpPr>
        <p:spPr>
          <a:xfrm>
            <a:off x="678426" y="1858297"/>
            <a:ext cx="541757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240" indent="0">
              <a:buNone/>
            </a:pPr>
            <a:r>
              <a:rPr lang="en-IN" sz="2400" b="1" dirty="0">
                <a:solidFill>
                  <a:schemeClr val="bg2"/>
                </a:solidFill>
              </a:rPr>
              <a:t>Target Users</a:t>
            </a:r>
            <a:endParaRPr lang="en-IN" sz="2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Online &amp; frequent shoppers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Personalization-seeking customers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E-commerce platforms 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pPr marL="15240" indent="0">
              <a:buNone/>
            </a:pPr>
            <a:r>
              <a:rPr lang="en-IN" sz="2400" b="1" dirty="0">
                <a:solidFill>
                  <a:schemeClr val="bg2"/>
                </a:solidFill>
              </a:rPr>
              <a:t>User Input</a:t>
            </a:r>
            <a:endParaRPr lang="en-IN" sz="2400" dirty="0">
              <a:solidFill>
                <a:schemeClr val="bg2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Product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Budget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Brand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Category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Requirements </a:t>
            </a:r>
          </a:p>
          <a:p>
            <a:pPr lvl="0"/>
            <a:r>
              <a:rPr lang="en-IN" i="1" dirty="0"/>
              <a:t>Example: “Samsung phone under ₹30,000”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9F2A6F-4894-1C34-1BDA-8786D4E34124}"/>
              </a:ext>
            </a:extLst>
          </p:cNvPr>
          <p:cNvSpPr txBox="1"/>
          <p:nvPr/>
        </p:nvSpPr>
        <p:spPr>
          <a:xfrm>
            <a:off x="6096000" y="1858297"/>
            <a:ext cx="5987845" cy="3942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bg2"/>
                </a:solidFill>
              </a:rPr>
              <a:t>Expected Outcome</a:t>
            </a:r>
          </a:p>
          <a:p>
            <a:pPr marL="285750" lvl="0" indent="-285750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Persistent Memory</a:t>
            </a:r>
            <a:r>
              <a:rPr lang="en-IN" dirty="0"/>
              <a:t> across sessions </a:t>
            </a:r>
          </a:p>
          <a:p>
            <a:pPr marL="285750" lvl="0" indent="-285750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Digital Twin</a:t>
            </a:r>
            <a:r>
              <a:rPr lang="en-IN" dirty="0"/>
              <a:t> for user preferences </a:t>
            </a:r>
          </a:p>
          <a:p>
            <a:pPr marL="285750" lvl="0" indent="-285750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RAG</a:t>
            </a:r>
            <a:r>
              <a:rPr lang="en-IN" dirty="0"/>
              <a:t> for accurate product information </a:t>
            </a:r>
          </a:p>
          <a:p>
            <a:pPr marL="285750" lvl="0" indent="-285750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Personalized &amp; Explainable</a:t>
            </a:r>
            <a:r>
              <a:rPr lang="en-IN" dirty="0"/>
              <a:t> recommendations </a:t>
            </a:r>
          </a:p>
          <a:p>
            <a:pPr marL="285750" lvl="0" indent="-285750">
              <a:spcBef>
                <a:spcPts val="50"/>
              </a:spcBef>
              <a:buFont typeface="Arial" panose="020B0604020202020204" pitchFamily="34" charset="0"/>
              <a:buChar char="•"/>
            </a:pPr>
            <a:r>
              <a:rPr lang="en-IN" b="1" dirty="0"/>
              <a:t>Multi-Agent &amp; Scalable</a:t>
            </a:r>
            <a:r>
              <a:rPr lang="en-IN" dirty="0"/>
              <a:t> shopping assistant </a:t>
            </a:r>
          </a:p>
          <a:p>
            <a:pPr lvl="0"/>
            <a:endParaRPr lang="en-IN" dirty="0"/>
          </a:p>
          <a:p>
            <a:endParaRPr lang="en-IN" b="1" dirty="0"/>
          </a:p>
          <a:p>
            <a:r>
              <a:rPr lang="en-IN" sz="2400" b="1" dirty="0">
                <a:solidFill>
                  <a:schemeClr val="bg2"/>
                </a:solidFill>
              </a:rPr>
              <a:t>Final Outcome</a:t>
            </a:r>
          </a:p>
          <a:p>
            <a:pPr algn="just"/>
            <a:r>
              <a:rPr lang="en-IN" b="1" dirty="0"/>
              <a:t>An intelligent shopping assistant that remembers users, understands preferences, and delivers accurate, personalized recommendations.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8462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B8CAB-666A-4358-8478-7629C757E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928" y="637409"/>
            <a:ext cx="6893859" cy="321814"/>
          </a:xfrm>
        </p:spPr>
        <p:txBody>
          <a:bodyPr>
            <a:noAutofit/>
          </a:bodyPr>
          <a:lstStyle/>
          <a:p>
            <a:r>
              <a:rPr lang="en-US" altLang="en-US" sz="4000" b="1" dirty="0">
                <a:solidFill>
                  <a:srgbClr val="C00000"/>
                </a:solidFill>
                <a:latin typeface="Georgia" panose="02040502050405020303" pitchFamily="18" charset="0"/>
                <a:cs typeface="Georgia" panose="02040502050405020303" pitchFamily="18" charset="0"/>
                <a:sym typeface="+mn-ea"/>
              </a:rPr>
              <a:t>									F</a:t>
            </a:r>
            <a:r>
              <a:rPr lang="en-IN" altLang="en-US" sz="4000" b="1" dirty="0">
                <a:solidFill>
                  <a:srgbClr val="C00000"/>
                </a:solidFill>
                <a:latin typeface="Georgia" panose="02040502050405020303" pitchFamily="18" charset="0"/>
                <a:cs typeface="Georgia" panose="02040502050405020303" pitchFamily="18" charset="0"/>
                <a:sym typeface="+mn-ea"/>
              </a:rPr>
              <a:t>UTURE  SCOPE             </a:t>
            </a:r>
            <a:br>
              <a:rPr lang="en-US" sz="4000" b="1" dirty="0">
                <a:solidFill>
                  <a:schemeClr val="accent2"/>
                </a:solidFill>
                <a:latin typeface="Georgia" panose="02040502050405020303" pitchFamily="18" charset="0"/>
                <a:cs typeface="Georgia" panose="02040502050405020303" pitchFamily="18" charset="0"/>
                <a:sym typeface="+mn-ea"/>
              </a:rPr>
            </a:b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BBCB9-5613-4248-915B-2B5E439EC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479" y="1305560"/>
            <a:ext cx="11181573" cy="4436479"/>
          </a:xfrm>
        </p:spPr>
        <p:txBody>
          <a:bodyPr numCol="2">
            <a:normAutofit/>
          </a:bodyPr>
          <a:lstStyle/>
          <a:p>
            <a:pPr marL="15240" indent="0">
              <a:spcBef>
                <a:spcPts val="800"/>
              </a:spcBef>
              <a:buNone/>
            </a:pPr>
            <a:r>
              <a:rPr lang="en-IN" sz="2400" b="1" dirty="0"/>
              <a:t>1. Cross-Sector Expansion</a:t>
            </a:r>
            <a:br>
              <a:rPr lang="en-IN" sz="2400" dirty="0"/>
            </a:br>
            <a:r>
              <a:rPr lang="en-IN" sz="2400" dirty="0"/>
              <a:t>Extend beyond e-commerce to </a:t>
            </a:r>
            <a:r>
              <a:rPr lang="en-IN" sz="2400" dirty="0" err="1"/>
              <a:t>Instamart</a:t>
            </a:r>
            <a:r>
              <a:rPr lang="en-IN" sz="2400" dirty="0"/>
              <a:t>, Swiggy, Rapido, Travel, Healthcare, and other services.</a:t>
            </a:r>
          </a:p>
          <a:p>
            <a:pPr marL="15240" indent="0">
              <a:spcBef>
                <a:spcPts val="800"/>
              </a:spcBef>
              <a:buNone/>
            </a:pPr>
            <a:r>
              <a:rPr lang="en-IN" sz="2400" b="1" dirty="0"/>
              <a:t>2. Advanced User Memory</a:t>
            </a:r>
            <a:br>
              <a:rPr lang="en-IN" sz="2400" dirty="0"/>
            </a:br>
            <a:r>
              <a:rPr lang="en-IN" sz="2400" dirty="0"/>
              <a:t>Deeper long-term understanding of user preferences and </a:t>
            </a:r>
            <a:r>
              <a:rPr lang="en-IN" sz="2400" dirty="0" err="1"/>
              <a:t>behavior</a:t>
            </a:r>
            <a:r>
              <a:rPr lang="en-IN" sz="2400" dirty="0"/>
              <a:t>.</a:t>
            </a:r>
          </a:p>
          <a:p>
            <a:pPr marL="15240" indent="0">
              <a:spcBef>
                <a:spcPts val="800"/>
              </a:spcBef>
              <a:buNone/>
            </a:pPr>
            <a:r>
              <a:rPr lang="en-IN" sz="2400" b="1" dirty="0"/>
              <a:t>3. Multi-Platform Expansion</a:t>
            </a:r>
            <a:br>
              <a:rPr lang="en-IN" sz="2400" dirty="0"/>
            </a:br>
            <a:r>
              <a:rPr lang="en-IN" sz="2400" dirty="0"/>
              <a:t>Integrate with more e-commerce and service platforms.</a:t>
            </a:r>
          </a:p>
          <a:p>
            <a:pPr marL="15240" indent="0">
              <a:spcBef>
                <a:spcPts val="800"/>
              </a:spcBef>
              <a:buNone/>
            </a:pPr>
            <a:r>
              <a:rPr lang="en-IN" sz="2400" b="1" dirty="0"/>
              <a:t>4. Voice &amp; Multimodal Interaction</a:t>
            </a:r>
            <a:br>
              <a:rPr lang="en-IN" sz="2400" dirty="0"/>
            </a:br>
            <a:r>
              <a:rPr lang="en-IN" sz="2400" dirty="0"/>
              <a:t>Enable voice queries and image-based product search.</a:t>
            </a:r>
          </a:p>
          <a:p>
            <a:pPr marL="15240" indent="0">
              <a:spcBef>
                <a:spcPts val="800"/>
              </a:spcBef>
              <a:buNone/>
            </a:pPr>
            <a:r>
              <a:rPr lang="en-IN" sz="2400" b="1" dirty="0"/>
              <a:t>5. Advanced Multi-Agent Collaboration</a:t>
            </a:r>
            <a:br>
              <a:rPr lang="en-IN" sz="2400" dirty="0"/>
            </a:br>
            <a:r>
              <a:rPr lang="en-IN" sz="2400" dirty="0"/>
              <a:t>Introduce more specialized agents for end-to-end shopping automation.</a:t>
            </a:r>
          </a:p>
          <a:p>
            <a:pPr marL="15240" indent="0">
              <a:spcBef>
                <a:spcPts val="800"/>
              </a:spcBef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20412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69242-DAAD-0622-B9BB-124B9EF03F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440" y="772160"/>
            <a:ext cx="10972800" cy="5343843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15240" indent="0">
              <a:buNone/>
            </a:pPr>
            <a:r>
              <a:rPr lang="en-IN" dirty="0"/>
              <a:t>				</a:t>
            </a:r>
            <a:r>
              <a:rPr lang="en-IN" dirty="0">
                <a:latin typeface="Georgia" panose="02040502050405020303" pitchFamily="18" charset="0"/>
              </a:rPr>
              <a:t>      </a:t>
            </a:r>
            <a:r>
              <a:rPr lang="en-IN" sz="4000" kern="1200" dirty="0">
                <a:latin typeface="Georgia" panose="02040502050405020303" pitchFamily="18" charset="0"/>
                <a:cs typeface="Arial" panose="020B0604020202020204" pitchFamily="34" charset="0"/>
              </a:rPr>
              <a:t>Thank you!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98684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1358</Words>
  <Application>Microsoft Office PowerPoint</Application>
  <PresentationFormat>Widescreen</PresentationFormat>
  <Paragraphs>246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Gautami</vt:lpstr>
      <vt:lpstr>Georgia</vt:lpstr>
      <vt:lpstr>Times New Roman</vt:lpstr>
      <vt:lpstr>2_Office Theme</vt:lpstr>
      <vt:lpstr>PowerPoint Presentation</vt:lpstr>
      <vt:lpstr>PowerPoint Presentation</vt:lpstr>
      <vt:lpstr>PROBLEM STATEMENT </vt:lpstr>
      <vt:lpstr> BASE PAPER / RESEARCH PAPER REFERENCE  LLM Agent Meets Agentic AI: Can LLM Agents Simulate Customers to Evaluate Agentic-AI-Based Shopping Assistants?  Objective: The paper evaluates AI shopping assistants like Amazon Rufus using AI Digital Twins.   </vt:lpstr>
      <vt:lpstr>PowerPoint Presentation</vt:lpstr>
      <vt:lpstr>PowerPoint Presentation</vt:lpstr>
      <vt:lpstr>PowerPoint Presentation</vt:lpstr>
      <vt:lpstr>PowerPoint Presentation</vt:lpstr>
      <vt:lpstr>FEATURES</vt:lpstr>
      <vt:lpstr>PowerPoint Presentation</vt:lpstr>
      <vt:lpstr>PowerPoint Presentation</vt:lpstr>
      <vt:lpstr>         FUTURE  SCOPE             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Preksha Bolampalliwar</cp:lastModifiedBy>
  <cp:revision>27</cp:revision>
  <dcterms:created xsi:type="dcterms:W3CDTF">2025-08-23T05:32:08Z</dcterms:created>
  <dcterms:modified xsi:type="dcterms:W3CDTF">2026-08-13T18:19:22Z</dcterms:modified>
</cp:coreProperties>
</file>